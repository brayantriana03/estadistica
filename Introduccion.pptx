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7315200" cy="96012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Impact" panose="020B0806030902050204" pitchFamily="34" charset="0"/>
      <p:regular r:id="rId42"/>
    </p:embeddedFont>
    <p:embeddedFont>
      <p:font typeface="Nunito" pitchFamily="2" charset="0"/>
      <p:regular r:id="rId43"/>
      <p:bold r:id="rId44"/>
      <p:italic r:id="rId45"/>
      <p:boldItalic r:id="rId46"/>
    </p:embeddedFont>
    <p:embeddedFont>
      <p:font typeface="Tahoma" panose="020B0604030504040204" pitchFamily="34" charset="0"/>
      <p:regular r:id="rId47"/>
      <p:bold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8fe5eb6a0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8fe5eb6a03_0_1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8fe5eb6a03_0_12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fe5eb6a0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fe5eb6a03_0_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8fe5eb6a03_0_18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03f92a7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03f92a737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1403f92a737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fe5eb6a0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fe5eb6a03_0_2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8fe5eb6a03_0_2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fe5eb6a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fe5eb6a03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8fe5eb6a03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8fe5eb6a0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8fe5eb6a03_0_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8fe5eb6a03_0_6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5" name="Google Shape;4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6FCFFD4-5652-4767-AA22-C441E28A3072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35820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1D2F-C98D-461D-8520-60E71130446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521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87BB-EB42-4973-8108-1039EEE1ABEB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905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4EC1-07E7-46CE-BD4D-803A40CCC650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953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1087-2093-46ED-80DD-B57925DA0BA6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10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928F-6A83-4C93-A36D-60F2EFA718F5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745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038-2EBF-4E11-97BE-A953678E6045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31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EE0F-C015-4081-928C-E8179E40D797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050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A358-440B-44C9-943B-EE88A5D6669F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833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8D94F-17FC-4DBA-B892-CD4B3034A353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52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983A-6252-4FA3-A7AE-5E2C849F48F9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484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F7F8-6DF1-4292-9E24-2C2DABFFE99B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01619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6A6-D535-4143-B8EE-86A468AFBC2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082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9337-9612-4749-85E9-9B1759881A09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518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2023-CC5F-478F-9515-943786244957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332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0F79-BD4F-4F71-871C-DADDFBF0601E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193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EE15-5B1D-4626-9E26-DE60EB9C79EE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10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239B335-F5C8-4EDF-B1E2-6347D416EBE4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0208750_Analisis_Exploratorio_de_Dato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apminder.org/tools/#$state$marker$axis_y$which=children_per_woman_total_fertility&amp;domainMin:null&amp;domainMax:null&amp;zoomedMin:null&amp;zoomedMax:null&amp;spaceRef:null;;;&amp;chart-type=bubbl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adeo.edu.co/es/link/estudiantes/92/licenciamiento-offic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omepage.divms.uiowa.edu/~mbognar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thsisfun.com/combinatorics/combinations-permutations-calculator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www.weather-col.com/es/colombia/bogota-clima#rainfall_days" TargetMode="External"/><Relationship Id="rId3" Type="http://schemas.openxmlformats.org/officeDocument/2006/relationships/hyperlink" Target="https://www.kantaribopemedia.com.co/index.html" TargetMode="External"/><Relationship Id="rId7" Type="http://schemas.openxmlformats.org/officeDocument/2006/relationships/hyperlink" Target="https://sitios.dane.gov.co/cnpv/#!/" TargetMode="Externa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ratingcolombia.com/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www.youtube.com/watch?v=fX187HJDAxk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trends.google.com/trends/?geo=US" TargetMode="External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pminder.org/tools/#$chart-type=bubble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gapminder.org/" TargetMode="Externa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/>
        </p:nvSpPr>
        <p:spPr>
          <a:xfrm>
            <a:off x="284100" y="1505502"/>
            <a:ext cx="8859900" cy="3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Estadística</a:t>
            </a:r>
            <a:endParaRPr sz="3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Bienvenidos</a:t>
            </a:r>
            <a:r>
              <a:rPr lang="en-US" sz="3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!</a:t>
            </a: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Profesor</a:t>
            </a: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Fredy Nelson Ríos </a:t>
            </a:r>
            <a:r>
              <a:rPr lang="es-MX" sz="3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Fautoque</a:t>
            </a: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/>
        </p:nvSpPr>
        <p:spPr>
          <a:xfrm>
            <a:off x="539552" y="764704"/>
            <a:ext cx="7992888" cy="513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Diapositivas 1</a:t>
            </a:r>
            <a:endParaRPr sz="3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1500" marR="0" lvl="0" indent="-571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Presentación del curso</a:t>
            </a:r>
            <a:endParaRPr sz="3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1500" marR="0" lvl="0" indent="-571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Información sobre la evaluación</a:t>
            </a:r>
            <a:endParaRPr sz="3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1500" marR="0" lvl="0" indent="-571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Introducción a la estadística – Clasificación – Parámetros y estadísticos – Tipos de variables</a:t>
            </a:r>
            <a:endParaRPr/>
          </a:p>
          <a:p>
            <a:pPr marL="571500" marR="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/>
        </p:nvSpPr>
        <p:spPr>
          <a:xfrm>
            <a:off x="2267744" y="188640"/>
            <a:ext cx="43924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Programa 1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1570982" y="1052725"/>
            <a:ext cx="5465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 Estadística descriptiva</a:t>
            </a:r>
            <a:endParaRPr sz="2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1660584" y="2018839"/>
            <a:ext cx="5465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 Estadísticos de centro y dispersión</a:t>
            </a:r>
            <a:endParaRPr sz="2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1660584" y="2984954"/>
            <a:ext cx="5465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 Correlación y regresión</a:t>
            </a:r>
            <a:endParaRPr sz="2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1839790" y="3951068"/>
            <a:ext cx="5465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Introducción a la probabilidad</a:t>
            </a:r>
            <a:endParaRPr sz="2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95750" y="4917183"/>
            <a:ext cx="80643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5. Distribuciones discretas de probabilidad – Casos prácticos</a:t>
            </a:r>
            <a:endParaRPr sz="2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839790" y="5883297"/>
            <a:ext cx="5465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Distribución de probabilidad Normal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/>
          <p:nvPr/>
        </p:nvSpPr>
        <p:spPr>
          <a:xfrm>
            <a:off x="272067" y="1556792"/>
            <a:ext cx="864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González, L. Análisis Exploratorio de datos. Ediciones Utadeo. 2018.</a:t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2306547" y="404664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Bibliografía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2280500" y="3933025"/>
            <a:ext cx="47097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 dirty="0" err="1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Descargar</a:t>
            </a:r>
            <a:r>
              <a:rPr lang="en-US" sz="2500" u="sng" dirty="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 </a:t>
            </a:r>
            <a:r>
              <a:rPr lang="en-US" sz="2500" u="sng" dirty="0" err="1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libro</a:t>
            </a:r>
            <a:endParaRPr sz="25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431550" y="1305600"/>
            <a:ext cx="8280900" cy="5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Corte 1 (30%)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Corte 2 (30%)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Corte 3 (40%)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Primer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parcial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Semana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Segundo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parcial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Semana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10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Tercer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parcial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Semana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15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Talleres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ejercicios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trabajos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prácticos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40%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Quiz: 20%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Parcial</a:t>
            </a: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40%</a:t>
            </a: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837578" y="373987"/>
            <a:ext cx="281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Evaluación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/>
          <p:nvPr/>
        </p:nvSpPr>
        <p:spPr>
          <a:xfrm>
            <a:off x="348049" y="2636912"/>
            <a:ext cx="87849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¿Qué software podemos utilizar?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48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>
            <a:off x="2363125" y="4610550"/>
            <a:ext cx="41808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gapminder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75" y="515950"/>
            <a:ext cx="8839202" cy="43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1784725" y="5271575"/>
            <a:ext cx="59985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Nunito"/>
                <a:ea typeface="Nunito"/>
                <a:cs typeface="Nunito"/>
                <a:sym typeface="Nunito"/>
              </a:rPr>
              <a:t>Excel o Google Sheets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/>
        </p:nvSpPr>
        <p:spPr>
          <a:xfrm>
            <a:off x="1962175" y="2515700"/>
            <a:ext cx="5126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Office Utadeo</a:t>
            </a:r>
            <a:endParaRPr sz="2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39868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 txBox="1"/>
          <p:nvPr/>
        </p:nvSpPr>
        <p:spPr>
          <a:xfrm>
            <a:off x="2363125" y="4610550"/>
            <a:ext cx="41808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Nunito"/>
                <a:ea typeface="Nunito"/>
                <a:cs typeface="Nunito"/>
                <a:sym typeface="Nunito"/>
              </a:rPr>
              <a:t>desmos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863" y="565525"/>
            <a:ext cx="5248275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1784725" y="5271575"/>
            <a:ext cx="59985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Calculadora de probabilidades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350700"/>
            <a:ext cx="7029450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4"/>
          <p:cNvSpPr txBox="1"/>
          <p:nvPr/>
        </p:nvSpPr>
        <p:spPr>
          <a:xfrm>
            <a:off x="2131775" y="5684700"/>
            <a:ext cx="52716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Combinaciones y permutaciones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4468" y="2759591"/>
            <a:ext cx="2036198" cy="36199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25"/>
          <p:cNvCxnSpPr/>
          <p:nvPr/>
        </p:nvCxnSpPr>
        <p:spPr>
          <a:xfrm flipH="1">
            <a:off x="6864480" y="2162920"/>
            <a:ext cx="504000" cy="13890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3" name="Google Shape;363;p25"/>
          <p:cNvCxnSpPr/>
          <p:nvPr/>
        </p:nvCxnSpPr>
        <p:spPr>
          <a:xfrm flipH="1">
            <a:off x="6285752" y="1252846"/>
            <a:ext cx="830700" cy="16653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4" name="Google Shape;364;p25"/>
          <p:cNvSpPr txBox="1"/>
          <p:nvPr/>
        </p:nvSpPr>
        <p:spPr>
          <a:xfrm>
            <a:off x="1331640" y="297625"/>
            <a:ext cx="728116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Aplicaciones de Android o IOS</a:t>
            </a:r>
            <a:endParaRPr/>
          </a:p>
        </p:txBody>
      </p:sp>
      <p:pic>
        <p:nvPicPr>
          <p:cNvPr id="365" name="Google Shape;365;p25" descr="A screenshot of a cell phon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1117" y="1235947"/>
            <a:ext cx="2321183" cy="41265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25"/>
          <p:cNvCxnSpPr/>
          <p:nvPr/>
        </p:nvCxnSpPr>
        <p:spPr>
          <a:xfrm flipH="1">
            <a:off x="2514541" y="1052736"/>
            <a:ext cx="2496900" cy="5811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7" name="Google Shape;367;p25"/>
          <p:cNvCxnSpPr/>
          <p:nvPr/>
        </p:nvCxnSpPr>
        <p:spPr>
          <a:xfrm rot="10800000" flipH="1">
            <a:off x="636703" y="2257346"/>
            <a:ext cx="1047900" cy="16431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/>
          <p:nvPr/>
        </p:nvSpPr>
        <p:spPr>
          <a:xfrm>
            <a:off x="1259632" y="2132856"/>
            <a:ext cx="634660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¿Qué es la estadística?</a:t>
            </a:r>
            <a:endParaRPr sz="4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/>
        </p:nvSpPr>
        <p:spPr>
          <a:xfrm>
            <a:off x="1971164" y="843914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Ibope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27"/>
          <p:cNvSpPr txBox="1"/>
          <p:nvPr/>
        </p:nvSpPr>
        <p:spPr>
          <a:xfrm>
            <a:off x="70089" y="1288432"/>
            <a:ext cx="21602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google trends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6279227" y="429127"/>
            <a:ext cx="2880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do TV ratings work?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6283060" y="1855169"/>
            <a:ext cx="21602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Rating Colombia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" name="Google Shape;381;p27">
            <a:hlinkClick r:id="rId7"/>
          </p:cNvPr>
          <p:cNvSpPr txBox="1"/>
          <p:nvPr/>
        </p:nvSpPr>
        <p:spPr>
          <a:xfrm>
            <a:off x="3241338" y="4184616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Dane: Censo 2018</a:t>
            </a:r>
            <a:endParaRPr/>
          </a:p>
        </p:txBody>
      </p:sp>
      <p:pic>
        <p:nvPicPr>
          <p:cNvPr id="382" name="Google Shape;382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574" y="14341"/>
            <a:ext cx="1957590" cy="82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8754" y="-63284"/>
            <a:ext cx="1848048" cy="233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03239" y="2307516"/>
            <a:ext cx="2313358" cy="235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1736938"/>
            <a:ext cx="3621608" cy="218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2711" y="3998779"/>
            <a:ext cx="3164526" cy="274258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7"/>
          <p:cNvSpPr txBox="1"/>
          <p:nvPr/>
        </p:nvSpPr>
        <p:spPr>
          <a:xfrm>
            <a:off x="3563888" y="5352220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 en Bogotá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8" name="Google Shape;388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020881" y="4748235"/>
            <a:ext cx="3045147" cy="207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8" descr="A picture containing devic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670" y="0"/>
            <a:ext cx="756666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310319"/>
            <a:ext cx="9144000" cy="223736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9"/>
          <p:cNvSpPr txBox="1"/>
          <p:nvPr/>
        </p:nvSpPr>
        <p:spPr>
          <a:xfrm>
            <a:off x="787875" y="1052725"/>
            <a:ext cx="7309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www.gapminder.org</a:t>
            </a:r>
            <a:endParaRPr sz="4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/>
          <p:nvPr/>
        </p:nvSpPr>
        <p:spPr>
          <a:xfrm>
            <a:off x="2751138" y="849313"/>
            <a:ext cx="323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¿Qué es la estadística?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5" name="Google Shape;405;p30"/>
          <p:cNvSpPr txBox="1"/>
          <p:nvPr/>
        </p:nvSpPr>
        <p:spPr>
          <a:xfrm>
            <a:off x="625475" y="1928813"/>
            <a:ext cx="8258175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 estadística es el arte de aprender a partir de los datos.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 estadística tiene que ver con la recolección de los datos,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 subsecuente descripción, y su análisis,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 cual con frecuencia lleva a la obtención de conclusiones. 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 txBox="1"/>
          <p:nvPr/>
        </p:nvSpPr>
        <p:spPr>
          <a:xfrm>
            <a:off x="1331913" y="981075"/>
            <a:ext cx="6573837" cy="43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Recolección de información: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¿Qué quiero averiguar, investigar o indagar?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¿Dónde encuentro la información que necesito?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¿Cómo recojo la información?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¿Qué variables son de interés en mi estudio?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¿Cómo analizo la información?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 txBox="1"/>
          <p:nvPr/>
        </p:nvSpPr>
        <p:spPr>
          <a:xfrm>
            <a:off x="533400" y="152400"/>
            <a:ext cx="7467600" cy="655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Economía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¿Cuál es el ingreso promedio de un profesional egresado en Colombia?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¿Cuánto dinero debe ponerse en un cajero automático?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¿Cómo se </a:t>
            </a:r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comportará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el próximo mes la tasa de cambio del dólar, el IPC, el desempleo y la inflación?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¿A quiénes se le p</a:t>
            </a:r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ue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otorgar un crédito bancario?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Publicidad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¿Cuántas personas ven un anuncio en la televisión?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Medicina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¿Cuáles son los principales factores de riesgo en enfermedades del corazón?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Mercadeo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¿Quiénes son los potenciales clientes de un producto?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¿Cuáles son las preferencias de los clientes de telefonía móvil?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Política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¿Cuál es la favorabilidad de un candidato político?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¿Cuántas personas votará en las siguientes elecciones de alcaldes? 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Sector público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¿Cuántos niños menores de cinco años hay en actualidad en Bogotá? ¿Cuántos habrá dentro de cinco años?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¿Cuántos ancianos hay en Bogotá?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¿Cuántos personas viven en condición de pobreza Bogotá?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Internet</a:t>
            </a:r>
            <a:endParaRPr sz="1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¿Cuáles son las búsquedas de mayor frecuencia en Google?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2996952"/>
            <a:ext cx="7875041" cy="642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4" descr="http://johngodley.files.wordpress.com/2012/08/crowded.jpg?w=1024&amp;h=6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31" y="-10761"/>
            <a:ext cx="9135481" cy="6093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6" y="0"/>
            <a:ext cx="9097645" cy="609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6" descr="http://2.bp.blogspot.com/-Z_b4FLjKcis/VR_vSB50ihI/AAAAAAAAABs/tMIzoGm_stg/s1600/POBLACION%2B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616" y="31921"/>
            <a:ext cx="6525344" cy="652534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6"/>
          <p:cNvSpPr txBox="1"/>
          <p:nvPr/>
        </p:nvSpPr>
        <p:spPr>
          <a:xfrm>
            <a:off x="7748613" y="1340768"/>
            <a:ext cx="13628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Estadísticos</a:t>
            </a:r>
            <a:endParaRPr sz="18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7" name="Google Shape;437;p36"/>
          <p:cNvSpPr txBox="1"/>
          <p:nvPr/>
        </p:nvSpPr>
        <p:spPr>
          <a:xfrm>
            <a:off x="7660904" y="4941168"/>
            <a:ext cx="1538288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Parámetros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poblacionales</a:t>
            </a:r>
            <a:endParaRPr sz="18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38" name="Google Shape;438;p36"/>
          <p:cNvCxnSpPr/>
          <p:nvPr/>
        </p:nvCxnSpPr>
        <p:spPr>
          <a:xfrm>
            <a:off x="6732240" y="1484784"/>
            <a:ext cx="10080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9" name="Google Shape;439;p36"/>
          <p:cNvCxnSpPr/>
          <p:nvPr/>
        </p:nvCxnSpPr>
        <p:spPr>
          <a:xfrm>
            <a:off x="6632960" y="5250701"/>
            <a:ext cx="10080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/>
        </p:nvSpPr>
        <p:spPr>
          <a:xfrm>
            <a:off x="5582612" y="2423027"/>
            <a:ext cx="3086100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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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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6357212" y="707550"/>
            <a:ext cx="15369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MUESTRA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5290114" y="4701381"/>
            <a:ext cx="1336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Descripción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7713831" y="4707062"/>
            <a:ext cx="11985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Inferencia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8" name="Google Shape;448;p37"/>
          <p:cNvSpPr txBox="1"/>
          <p:nvPr/>
        </p:nvSpPr>
        <p:spPr>
          <a:xfrm>
            <a:off x="5912018" y="1231439"/>
            <a:ext cx="2427288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MUESTRA ALEATORIA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9" name="Google Shape;449;p37"/>
          <p:cNvSpPr txBox="1"/>
          <p:nvPr/>
        </p:nvSpPr>
        <p:spPr>
          <a:xfrm>
            <a:off x="6567488" y="488473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0" name="Google Shape;45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199" y="-18291"/>
            <a:ext cx="4449398" cy="6111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37"/>
          <p:cNvCxnSpPr/>
          <p:nvPr/>
        </p:nvCxnSpPr>
        <p:spPr>
          <a:xfrm flipH="1">
            <a:off x="5912018" y="3535864"/>
            <a:ext cx="747545" cy="973256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2" name="Google Shape;452;p37"/>
          <p:cNvCxnSpPr/>
          <p:nvPr/>
        </p:nvCxnSpPr>
        <p:spPr>
          <a:xfrm>
            <a:off x="7420269" y="3535864"/>
            <a:ext cx="892843" cy="973256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013251"/>
            <a:ext cx="9144000" cy="23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50" y="5920720"/>
            <a:ext cx="10382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8640"/>
            <a:ext cx="9144000" cy="109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1700808"/>
            <a:ext cx="3450045" cy="475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512" y="3933056"/>
            <a:ext cx="8684895" cy="1728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412" y="1123950"/>
            <a:ext cx="7115175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68" y="1052736"/>
            <a:ext cx="9140895" cy="850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36" y="2780928"/>
            <a:ext cx="9073008" cy="136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836" y="116632"/>
            <a:ext cx="9176035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79" y="1052736"/>
            <a:ext cx="9144000" cy="8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194" y="3469209"/>
            <a:ext cx="7866620" cy="338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512" y="2420888"/>
            <a:ext cx="9144000" cy="81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672" y="620688"/>
            <a:ext cx="5049564" cy="466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7" y="548680"/>
            <a:ext cx="8928992" cy="143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9632" y="2564904"/>
            <a:ext cx="5934472" cy="3996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562" y="1076325"/>
            <a:ext cx="70008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764704"/>
            <a:ext cx="8428244" cy="456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760</TotalTime>
  <Words>486</Words>
  <Application>Microsoft Office PowerPoint</Application>
  <PresentationFormat>Presentación en pantalla (4:3)</PresentationFormat>
  <Paragraphs>109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Impact</vt:lpstr>
      <vt:lpstr>Calibri</vt:lpstr>
      <vt:lpstr>Tahoma</vt:lpstr>
      <vt:lpstr>Arial</vt:lpstr>
      <vt:lpstr>Nunito</vt:lpstr>
      <vt:lpstr>Times New Roman</vt:lpstr>
      <vt:lpstr>Evento principal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6</cp:revision>
  <dcterms:modified xsi:type="dcterms:W3CDTF">2026-08-02T03:16:52Z</dcterms:modified>
</cp:coreProperties>
</file>