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6858000" type="screen4x3"/>
  <p:notesSz cx="7315200" cy="9601200"/>
  <p:embeddedFontLst>
    <p:embeddedFont>
      <p:font typeface="Calibri" panose="020F0502020204030204" pitchFamily="34" charset="0"/>
      <p:regular r:id="rId36"/>
      <p:bold r:id="rId37"/>
      <p:italic r:id="rId38"/>
      <p:boldItalic r:id="rId39"/>
    </p:embeddedFont>
    <p:embeddedFont>
      <p:font typeface="Georgia" panose="02040502050405020303" pitchFamily="18" charset="0"/>
      <p:regular r:id="rId40"/>
      <p:bold r:id="rId41"/>
      <p:italic r:id="rId42"/>
      <p:boldItalic r:id="rId43"/>
    </p:embeddedFont>
    <p:embeddedFont>
      <p:font typeface="Tahoma" panose="020B0604030504040204" pitchFamily="34" charset="0"/>
      <p:regular r:id="rId44"/>
      <p:bold r:id="rId45"/>
    </p:embeddedFont>
    <p:embeddedFont>
      <p:font typeface="Tw Cen MT" panose="020B0602020104020603" pitchFamily="34" charset="0"/>
      <p:regular r:id="rId46"/>
      <p:bold r:id="rId47"/>
      <p:italic r:id="rId48"/>
      <p:boldItalic r:id="rId4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587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sz="13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‹Nº›</a:t>
            </a:fld>
            <a:endParaRPr sz="13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9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388833069a_0_0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g1388833069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3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4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5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6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1707da4fe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1707da4fe0_0_0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11707da4fe0_0_0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800" cy="480000"/>
          </a:xfrm>
          <a:prstGeom prst="rect">
            <a:avLst/>
          </a:prstGeom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CO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1707da4fe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11707da4fe0_0_5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g11707da4fe0_0_5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800" cy="480000"/>
          </a:xfrm>
          <a:prstGeom prst="rect">
            <a:avLst/>
          </a:prstGeom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CO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7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8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0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8b7c713b7d_0_16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g8b7c713b7d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1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2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8b7c713b7d_0_8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g8b7c713b7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3968906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35717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3137868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5544703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6955102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443872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502342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282721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9633868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8522480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4947542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smtClean="0"/>
              <a:t>‹Nº›</a:t>
            </a:fld>
            <a:endParaRPr lang="es-CO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8197433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3962167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2446581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7562900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9712442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19162207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729450" y="1758200"/>
            <a:ext cx="7688700" cy="7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729450" y="2771833"/>
            <a:ext cx="7688700" cy="30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8542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94349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395536" y="2204864"/>
            <a:ext cx="8424936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Estadística Descriptiva y Probabilidad</a:t>
            </a:r>
            <a:endParaRPr sz="36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Diapositivas </a:t>
            </a:r>
            <a:r>
              <a:rPr lang="es-CO" sz="3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/>
        </p:nvSpPr>
        <p:spPr>
          <a:xfrm>
            <a:off x="395536" y="7260"/>
            <a:ext cx="7992888" cy="680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Contenido de la clase </a:t>
            </a:r>
            <a:endParaRPr sz="4000" b="0" i="0" u="none" strike="noStrike" cap="none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000" b="0" i="0" u="none" strike="noStrike" cap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1. Estadísticos de centro:</a:t>
            </a:r>
            <a:endParaRPr sz="4000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Media aritmética o promedio, mediana, moda, media ponderada y geométrica.</a:t>
            </a:r>
            <a:endParaRPr sz="4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0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2. Estadísticos de dispersión: </a:t>
            </a:r>
            <a:endParaRPr sz="4000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Rango, varianza y desviación estándar poblacional y muestral.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0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3. Preguntas de selección múltiple con única respuesta.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3648" y="836712"/>
            <a:ext cx="63246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827584" y="2348880"/>
            <a:ext cx="7776864" cy="92333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704" t="-3288" r="-705" b="-921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latin typeface="Tahoma"/>
                <a:ea typeface="Tahoma"/>
                <a:cs typeface="Tahoma"/>
                <a:sym typeface="Tahoma"/>
              </a:rPr>
              <a:t> </a:t>
            </a:r>
            <a:endParaRPr/>
          </a:p>
        </p:txBody>
      </p:sp>
      <p:pic>
        <p:nvPicPr>
          <p:cNvPr id="102" name="Google Shape;102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37210" y="4022378"/>
            <a:ext cx="2657475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4374455" y="6021300"/>
            <a:ext cx="4590000" cy="369300"/>
          </a:xfrm>
          <a:prstGeom prst="rect">
            <a:avLst/>
          </a:prstGeom>
          <a:solidFill>
            <a:srgbClr val="93501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Página 65 del libro de la Tadeo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2055" y="872611"/>
            <a:ext cx="5266738" cy="2204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65431" y="3701221"/>
            <a:ext cx="5140233" cy="171081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 txBox="1"/>
          <p:nvPr/>
        </p:nvSpPr>
        <p:spPr>
          <a:xfrm>
            <a:off x="2065425" y="5611622"/>
            <a:ext cx="4636800" cy="423000"/>
          </a:xfrm>
          <a:prstGeom prst="rect">
            <a:avLst/>
          </a:prstGeom>
          <a:solidFill>
            <a:srgbClr val="93501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Página 94 del libro de la Tadeo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/>
        </p:nvSpPr>
        <p:spPr>
          <a:xfrm>
            <a:off x="323816" y="2132856"/>
            <a:ext cx="889248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8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El PIB per cápita representa los bienes o servicios producidos en promedio por una persona de la población.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356310" y="3979222"/>
            <a:ext cx="669674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8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La densidad de una población</a:t>
            </a:r>
            <a:endParaRPr/>
          </a:p>
        </p:txBody>
      </p:sp>
      <p:sp>
        <p:nvSpPr>
          <p:cNvPr id="117" name="Google Shape;117;p17"/>
          <p:cNvSpPr txBox="1"/>
          <p:nvPr/>
        </p:nvSpPr>
        <p:spPr>
          <a:xfrm>
            <a:off x="348503" y="5071829"/>
            <a:ext cx="511256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8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La nota final de un estudiante</a:t>
            </a:r>
            <a:endParaRPr/>
          </a:p>
        </p:txBody>
      </p:sp>
      <p:sp>
        <p:nvSpPr>
          <p:cNvPr id="118" name="Google Shape;118;p17"/>
          <p:cNvSpPr txBox="1"/>
          <p:nvPr/>
        </p:nvSpPr>
        <p:spPr>
          <a:xfrm>
            <a:off x="107504" y="476672"/>
            <a:ext cx="8856984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 media o promedio se puede presentar con ciertos matices en diferentes contextos, por ejemplo: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/>
        </p:nvSpPr>
        <p:spPr>
          <a:xfrm>
            <a:off x="1029683" y="1705891"/>
            <a:ext cx="7632900" cy="34461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596" t="-2123" r="-167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latin typeface="Tahoma"/>
                <a:ea typeface="Tahoma"/>
                <a:cs typeface="Tahoma"/>
                <a:sym typeface="Tahoma"/>
              </a:rPr>
              <a:t> </a:t>
            </a:r>
            <a:endParaRPr/>
          </a:p>
        </p:txBody>
      </p:sp>
      <p:pic>
        <p:nvPicPr>
          <p:cNvPr id="124" name="Google Shape;124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11760" y="979859"/>
            <a:ext cx="5107385" cy="550577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8"/>
          <p:cNvSpPr txBox="1"/>
          <p:nvPr/>
        </p:nvSpPr>
        <p:spPr>
          <a:xfrm>
            <a:off x="2173100" y="6237300"/>
            <a:ext cx="5346000" cy="369300"/>
          </a:xfrm>
          <a:prstGeom prst="rect">
            <a:avLst/>
          </a:prstGeom>
          <a:solidFill>
            <a:srgbClr val="93501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Página 68 del libro de la Tadeo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3" y="7593"/>
            <a:ext cx="9142347" cy="4080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4694" y="5041329"/>
            <a:ext cx="9131797" cy="1816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0001" y="2924944"/>
            <a:ext cx="9214001" cy="201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55776" y="1484784"/>
            <a:ext cx="4535463" cy="80003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0"/>
          <p:cNvSpPr txBox="1"/>
          <p:nvPr/>
        </p:nvSpPr>
        <p:spPr>
          <a:xfrm>
            <a:off x="2627784" y="6021288"/>
            <a:ext cx="3312368" cy="369332"/>
          </a:xfrm>
          <a:prstGeom prst="rect">
            <a:avLst/>
          </a:prstGeom>
          <a:solidFill>
            <a:srgbClr val="93501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Página 70 del libro de la Tadeo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924944"/>
            <a:ext cx="9144000" cy="870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83768" y="1268760"/>
            <a:ext cx="4391025" cy="98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1"/>
          <p:cNvSpPr txBox="1"/>
          <p:nvPr/>
        </p:nvSpPr>
        <p:spPr>
          <a:xfrm>
            <a:off x="3347864" y="6093296"/>
            <a:ext cx="3312368" cy="369332"/>
          </a:xfrm>
          <a:prstGeom prst="rect">
            <a:avLst/>
          </a:prstGeom>
          <a:solidFill>
            <a:srgbClr val="93501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Página 72 del libro de la Tadeo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70" y="1844824"/>
            <a:ext cx="8923453" cy="2592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2"/>
          <p:cNvSpPr txBox="1"/>
          <p:nvPr/>
        </p:nvSpPr>
        <p:spPr>
          <a:xfrm>
            <a:off x="3347864" y="6093296"/>
            <a:ext cx="3312368" cy="369332"/>
          </a:xfrm>
          <a:prstGeom prst="rect">
            <a:avLst/>
          </a:prstGeom>
          <a:solidFill>
            <a:srgbClr val="93501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Página 71 del libro de la Tadeo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52736"/>
            <a:ext cx="9162605" cy="3312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52736"/>
            <a:ext cx="9152386" cy="4104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700808"/>
            <a:ext cx="9144000" cy="274247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5"/>
          <p:cNvSpPr txBox="1"/>
          <p:nvPr/>
        </p:nvSpPr>
        <p:spPr>
          <a:xfrm>
            <a:off x="2833202" y="5475703"/>
            <a:ext cx="3806100" cy="661800"/>
          </a:xfrm>
          <a:prstGeom prst="rect">
            <a:avLst/>
          </a:prstGeom>
          <a:solidFill>
            <a:srgbClr val="93501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Página 73 del libro de la Tadeo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1680" y="19211"/>
            <a:ext cx="5895975" cy="360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118" y="4221088"/>
            <a:ext cx="8964488" cy="13253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50" y="4149080"/>
            <a:ext cx="9144000" cy="2487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91680" y="19211"/>
            <a:ext cx="5895975" cy="360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171" y="2370000"/>
            <a:ext cx="9144000" cy="448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3568" y="0"/>
            <a:ext cx="8114087" cy="2207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625" y="1043325"/>
            <a:ext cx="8958375" cy="449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3848" y="548680"/>
            <a:ext cx="2276475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2421" y="1566848"/>
            <a:ext cx="8819158" cy="587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22747" y="2629161"/>
            <a:ext cx="4638675" cy="282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0"/>
          <p:cNvSpPr txBox="1"/>
          <p:nvPr/>
        </p:nvSpPr>
        <p:spPr>
          <a:xfrm>
            <a:off x="2685900" y="6124654"/>
            <a:ext cx="3312300" cy="369300"/>
          </a:xfrm>
          <a:prstGeom prst="rect">
            <a:avLst/>
          </a:prstGeom>
          <a:solidFill>
            <a:srgbClr val="93501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Página 91 del libro de la Tadeo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75856" y="620688"/>
            <a:ext cx="2333625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1520" y="1700809"/>
            <a:ext cx="8763570" cy="531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79712" y="2703891"/>
            <a:ext cx="4619625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81534" y="4632958"/>
            <a:ext cx="4600575" cy="164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67744" y="692696"/>
            <a:ext cx="3990975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31930" y="2060848"/>
            <a:ext cx="4467225" cy="231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79712" y="476672"/>
            <a:ext cx="5381625" cy="332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7311" y="4221088"/>
            <a:ext cx="5686425" cy="14573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3"/>
          <p:cNvSpPr txBox="1"/>
          <p:nvPr/>
        </p:nvSpPr>
        <p:spPr>
          <a:xfrm>
            <a:off x="2843808" y="6093296"/>
            <a:ext cx="3816424" cy="369332"/>
          </a:xfrm>
          <a:prstGeom prst="rect">
            <a:avLst/>
          </a:prstGeom>
          <a:solidFill>
            <a:srgbClr val="93501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Página 93-94 del libro de la Tadeo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5536" y="1268760"/>
            <a:ext cx="8562974" cy="3199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04" y="1772816"/>
            <a:ext cx="8847157" cy="2736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261" y="836712"/>
            <a:ext cx="9059479" cy="5184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2725" y="1022200"/>
            <a:ext cx="6477000" cy="440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7763" y="1423625"/>
            <a:ext cx="6848475" cy="37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00">
            <a:alpha val="12941"/>
          </a:srgbClr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9"/>
          <p:cNvSpPr txBox="1">
            <a:spLocks noGrp="1"/>
          </p:cNvSpPr>
          <p:nvPr>
            <p:ph type="title"/>
          </p:nvPr>
        </p:nvSpPr>
        <p:spPr>
          <a:xfrm>
            <a:off x="0" y="274638"/>
            <a:ext cx="874846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3072"/>
              <a:buNone/>
            </a:pPr>
            <a:r>
              <a:rPr lang="es-CO" sz="2400"/>
              <a:t>El diagrama de tallo y hojas de abajo, corresponde a las edades de un grupo de personas. La afirmación correcta es:</a:t>
            </a:r>
            <a:endParaRPr/>
          </a:p>
        </p:txBody>
      </p:sp>
      <p:sp>
        <p:nvSpPr>
          <p:cNvPr id="252" name="Google Shape;252;p39"/>
          <p:cNvSpPr txBox="1">
            <a:spLocks noGrp="1"/>
          </p:cNvSpPr>
          <p:nvPr>
            <p:ph type="body" idx="1"/>
          </p:nvPr>
        </p:nvSpPr>
        <p:spPr>
          <a:xfrm>
            <a:off x="247875" y="1452450"/>
            <a:ext cx="8295600" cy="3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60070" lvl="0" indent="-552450" algn="just" rtl="0">
              <a:spcBef>
                <a:spcPts val="0"/>
              </a:spcBef>
              <a:spcAft>
                <a:spcPts val="0"/>
              </a:spcAft>
              <a:buSzPts val="3460"/>
              <a:buFont typeface="Georgia"/>
              <a:buAutoNum type="alphaUcPeriod"/>
            </a:pPr>
            <a:r>
              <a:rPr lang="es-CO" sz="1900"/>
              <a:t>La mediana de las edades es ligeramente menor que el promedio.</a:t>
            </a:r>
            <a:endParaRPr sz="1900"/>
          </a:p>
          <a:p>
            <a:pPr marL="560070" lvl="0" indent="-552450" algn="just" rtl="0">
              <a:spcBef>
                <a:spcPts val="740"/>
              </a:spcBef>
              <a:spcAft>
                <a:spcPts val="0"/>
              </a:spcAft>
              <a:buSzPts val="3460"/>
              <a:buFont typeface="Georgia"/>
              <a:buAutoNum type="alphaUcPeriod"/>
            </a:pPr>
            <a:r>
              <a:rPr lang="es-CO" sz="1900"/>
              <a:t>La moda de los datos es 5</a:t>
            </a:r>
            <a:endParaRPr sz="1900"/>
          </a:p>
          <a:p>
            <a:pPr marL="560070" lvl="0" indent="-552450" algn="just" rtl="0">
              <a:spcBef>
                <a:spcPts val="740"/>
              </a:spcBef>
              <a:spcAft>
                <a:spcPts val="0"/>
              </a:spcAft>
              <a:buSzPts val="3460"/>
              <a:buFont typeface="Georgia"/>
              <a:buAutoNum type="alphaUcPeriod"/>
            </a:pPr>
            <a:r>
              <a:rPr lang="es-CO" sz="1900"/>
              <a:t>La media de los datos es aproximadamente 2,68</a:t>
            </a:r>
            <a:endParaRPr sz="1900"/>
          </a:p>
          <a:p>
            <a:pPr marL="560070" lvl="0" indent="-552450" algn="just" rtl="0">
              <a:spcBef>
                <a:spcPts val="740"/>
              </a:spcBef>
              <a:spcAft>
                <a:spcPts val="0"/>
              </a:spcAft>
              <a:buSzPts val="3460"/>
              <a:buFont typeface="Georgia"/>
              <a:buAutoNum type="alphaUcPeriod"/>
            </a:pPr>
            <a:r>
              <a:rPr lang="es-CO" sz="1900"/>
              <a:t>La varianza muestral es aproximadamente 9,15238</a:t>
            </a:r>
            <a:endParaRPr sz="1900"/>
          </a:p>
          <a:p>
            <a:pPr marL="560070" lvl="0" indent="-552450" algn="just" rtl="0">
              <a:spcBef>
                <a:spcPts val="740"/>
              </a:spcBef>
              <a:spcAft>
                <a:spcPts val="0"/>
              </a:spcAft>
              <a:buSzPts val="3460"/>
              <a:buFont typeface="Georgia"/>
              <a:buAutoNum type="alphaUcPeriod"/>
            </a:pPr>
            <a:r>
              <a:rPr lang="es-CO" sz="1900"/>
              <a:t>La desviación estándar muestral es aproximadamente 83,766</a:t>
            </a:r>
            <a:endParaRPr sz="1900"/>
          </a:p>
        </p:txBody>
      </p:sp>
      <p:pic>
        <p:nvPicPr>
          <p:cNvPr id="253" name="Google Shape;253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18624" y="4994284"/>
            <a:ext cx="4511215" cy="1802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00">
            <a:alpha val="12941"/>
          </a:srgbClr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0"/>
          <p:cNvSpPr txBox="1">
            <a:spLocks noGrp="1"/>
          </p:cNvSpPr>
          <p:nvPr>
            <p:ph type="title"/>
          </p:nvPr>
        </p:nvSpPr>
        <p:spPr>
          <a:xfrm>
            <a:off x="107504" y="0"/>
            <a:ext cx="8712968" cy="1368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2560"/>
              <a:buNone/>
            </a:pPr>
            <a:br>
              <a:rPr lang="es-CO" sz="2000"/>
            </a:br>
            <a:r>
              <a:rPr lang="es-CO" sz="2000"/>
              <a:t>Un grupo de estudiantes realizó una prueba física y al finalizar se les asignó un puntaje entre 00 y 100. El puntaje de aprobación es 60. Los resultados se muestran en el histograma. La afirmación que NO es cierta es:</a:t>
            </a:r>
            <a:endParaRPr/>
          </a:p>
        </p:txBody>
      </p:sp>
      <p:sp>
        <p:nvSpPr>
          <p:cNvPr id="259" name="Google Shape;259;p40"/>
          <p:cNvSpPr txBox="1">
            <a:spLocks noGrp="1"/>
          </p:cNvSpPr>
          <p:nvPr>
            <p:ph type="body" idx="1"/>
          </p:nvPr>
        </p:nvSpPr>
        <p:spPr>
          <a:xfrm>
            <a:off x="274788" y="3899975"/>
            <a:ext cx="8378400" cy="26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60070" lvl="0" indent="-514350" algn="just" rtl="0">
              <a:spcBef>
                <a:spcPts val="0"/>
              </a:spcBef>
              <a:spcAft>
                <a:spcPts val="0"/>
              </a:spcAft>
              <a:buSzPts val="2600"/>
              <a:buFont typeface="Georgia"/>
              <a:buAutoNum type="alphaUcPeriod"/>
            </a:pPr>
            <a:r>
              <a:rPr lang="es-CO" sz="2000"/>
              <a:t>La gráfica tiene un ligero sesgo a la derecha.</a:t>
            </a:r>
            <a:endParaRPr/>
          </a:p>
          <a:p>
            <a:pPr marL="560070" lvl="0" indent="-514350" algn="just" rtl="0">
              <a:spcBef>
                <a:spcPts val="700"/>
              </a:spcBef>
              <a:spcAft>
                <a:spcPts val="0"/>
              </a:spcAft>
              <a:buSzPts val="2600"/>
              <a:buFont typeface="Georgia"/>
              <a:buAutoNum type="alphaUcPeriod"/>
            </a:pPr>
            <a:r>
              <a:rPr lang="es-CO" sz="2000"/>
              <a:t>La moda de las calificaciones es 70.</a:t>
            </a:r>
            <a:endParaRPr/>
          </a:p>
          <a:p>
            <a:pPr marL="560070" lvl="0" indent="-514350" algn="just" rtl="0">
              <a:spcBef>
                <a:spcPts val="700"/>
              </a:spcBef>
              <a:spcAft>
                <a:spcPts val="0"/>
              </a:spcAft>
              <a:buSzPts val="2600"/>
              <a:buFont typeface="Georgia"/>
              <a:buAutoNum type="alphaUcPeriod"/>
            </a:pPr>
            <a:r>
              <a:rPr lang="es-CO" sz="2000"/>
              <a:t>20 estudiantes presentaron la prueba.</a:t>
            </a:r>
            <a:endParaRPr/>
          </a:p>
          <a:p>
            <a:pPr marL="560070" lvl="0" indent="-514350" algn="just" rtl="0">
              <a:spcBef>
                <a:spcPts val="700"/>
              </a:spcBef>
              <a:spcAft>
                <a:spcPts val="0"/>
              </a:spcAft>
              <a:buSzPts val="2600"/>
              <a:buFont typeface="Georgia"/>
              <a:buAutoNum type="alphaUcPeriod"/>
            </a:pPr>
            <a:r>
              <a:rPr lang="es-CO" sz="2000"/>
              <a:t>El 45% de los estudiantes no aprobó. </a:t>
            </a:r>
            <a:endParaRPr/>
          </a:p>
          <a:p>
            <a:pPr marL="560070" lvl="0" indent="-514350" algn="just" rtl="0">
              <a:spcBef>
                <a:spcPts val="700"/>
              </a:spcBef>
              <a:spcAft>
                <a:spcPts val="0"/>
              </a:spcAft>
              <a:buSzPts val="2600"/>
              <a:buFont typeface="Georgia"/>
              <a:buAutoNum type="alphaUcPeriod"/>
            </a:pPr>
            <a:r>
              <a:rPr lang="es-CO" sz="2000"/>
              <a:t>La media de las puntuaciones es aproximadamente 60.</a:t>
            </a:r>
            <a:endParaRPr/>
          </a:p>
        </p:txBody>
      </p:sp>
      <p:pic>
        <p:nvPicPr>
          <p:cNvPr id="260" name="Google Shape;260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93885" y="1368161"/>
            <a:ext cx="4226593" cy="2416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00">
            <a:alpha val="12941"/>
          </a:srgbClr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1"/>
          <p:cNvSpPr txBox="1">
            <a:spLocks noGrp="1"/>
          </p:cNvSpPr>
          <p:nvPr>
            <p:ph type="title"/>
          </p:nvPr>
        </p:nvSpPr>
        <p:spPr>
          <a:xfrm>
            <a:off x="247875" y="116625"/>
            <a:ext cx="8791500" cy="14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s-CO" sz="2500" b="0"/>
              <a:t>En la gráfica de la siguiente diapositiva se muestra el costo mensual de varios gimnasios en diferentes localidades. La afirmación que NO es cierta es:</a:t>
            </a:r>
            <a:endParaRPr sz="2900"/>
          </a:p>
        </p:txBody>
      </p:sp>
      <p:sp>
        <p:nvSpPr>
          <p:cNvPr id="266" name="Google Shape;266;p41"/>
          <p:cNvSpPr txBox="1">
            <a:spLocks noGrp="1"/>
          </p:cNvSpPr>
          <p:nvPr>
            <p:ph type="body" idx="1"/>
          </p:nvPr>
        </p:nvSpPr>
        <p:spPr>
          <a:xfrm>
            <a:off x="611550" y="1542150"/>
            <a:ext cx="8044800" cy="46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60070" lvl="0" indent="-533400" algn="just" rtl="0">
              <a:spcBef>
                <a:spcPts val="0"/>
              </a:spcBef>
              <a:spcAft>
                <a:spcPts val="0"/>
              </a:spcAft>
              <a:buSzPts val="2900"/>
              <a:buFont typeface="Georgia"/>
              <a:buAutoNum type="alphaUcPeriod"/>
            </a:pPr>
            <a:r>
              <a:rPr lang="es-CO" sz="2300"/>
              <a:t>La mensualidad más frecuente es de $110.000</a:t>
            </a:r>
            <a:endParaRPr sz="1600"/>
          </a:p>
          <a:p>
            <a:pPr marL="560070" lvl="0" indent="-533400" algn="just" rtl="0">
              <a:spcBef>
                <a:spcPts val="700"/>
              </a:spcBef>
              <a:spcAft>
                <a:spcPts val="0"/>
              </a:spcAft>
              <a:buSzPts val="2900"/>
              <a:buFont typeface="Georgia"/>
              <a:buAutoNum type="alphaUcPeriod"/>
            </a:pPr>
            <a:r>
              <a:rPr lang="es-CO" sz="2300"/>
              <a:t>El 50% de los gimnasios de la muestra tienen una mensualidad de $120.000 o menos</a:t>
            </a:r>
            <a:endParaRPr sz="1600"/>
          </a:p>
          <a:p>
            <a:pPr marL="560070" lvl="0" indent="-533400" algn="just" rtl="0">
              <a:spcBef>
                <a:spcPts val="700"/>
              </a:spcBef>
              <a:spcAft>
                <a:spcPts val="0"/>
              </a:spcAft>
              <a:buSzPts val="2900"/>
              <a:buFont typeface="Georgia"/>
              <a:buAutoNum type="alphaUcPeriod"/>
            </a:pPr>
            <a:r>
              <a:rPr lang="es-CO" sz="2300"/>
              <a:t>La mensualidad promedio es de $130.000</a:t>
            </a:r>
            <a:endParaRPr sz="1600"/>
          </a:p>
          <a:p>
            <a:pPr marL="560070" lvl="0" indent="-533400" algn="just" rtl="0">
              <a:spcBef>
                <a:spcPts val="700"/>
              </a:spcBef>
              <a:spcAft>
                <a:spcPts val="0"/>
              </a:spcAft>
              <a:buSzPts val="2900"/>
              <a:buFont typeface="Georgia"/>
              <a:buAutoNum type="alphaUcPeriod"/>
            </a:pPr>
            <a:r>
              <a:rPr lang="es-CO" sz="2300"/>
              <a:t>La desviación estándar de las mensualidades de los gimnasios de la muestra es aproximadamente $46,792.</a:t>
            </a:r>
            <a:endParaRPr sz="1600"/>
          </a:p>
          <a:p>
            <a:pPr marL="560070" lvl="0" indent="-533400" algn="just" rtl="0">
              <a:spcBef>
                <a:spcPts val="700"/>
              </a:spcBef>
              <a:spcAft>
                <a:spcPts val="0"/>
              </a:spcAft>
              <a:buSzPts val="2900"/>
              <a:buFont typeface="Georgia"/>
              <a:buAutoNum type="alphaUcPeriod"/>
            </a:pPr>
            <a:r>
              <a:rPr lang="es-CO" sz="2300"/>
              <a:t>Los valores de las mensualidades de los gimnasios de la muestra son sesgados a la izquierda.</a:t>
            </a:r>
            <a:endParaRPr sz="1600"/>
          </a:p>
        </p:txBody>
      </p:sp>
      <p:sp>
        <p:nvSpPr>
          <p:cNvPr id="267" name="Google Shape;267;p41"/>
          <p:cNvSpPr/>
          <p:nvPr/>
        </p:nvSpPr>
        <p:spPr>
          <a:xfrm>
            <a:off x="4925878" y="154215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00">
            <a:alpha val="12940"/>
          </a:srgbClr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65126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00">
            <a:alpha val="12941"/>
          </a:srgbClr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3"/>
          <p:cNvSpPr txBox="1">
            <a:spLocks noGrp="1"/>
          </p:cNvSpPr>
          <p:nvPr>
            <p:ph type="title"/>
          </p:nvPr>
        </p:nvSpPr>
        <p:spPr>
          <a:xfrm>
            <a:off x="0" y="116632"/>
            <a:ext cx="8964488" cy="72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s-CO" sz="2000" b="0"/>
              <a:t>En las últimas 15 carreras dos atletas han ha obtenido tiempos (en segundos) según muestra la gráfica de abajo. La afirmación cierta es:</a:t>
            </a:r>
            <a:endParaRPr sz="2400"/>
          </a:p>
        </p:txBody>
      </p:sp>
      <p:sp>
        <p:nvSpPr>
          <p:cNvPr id="278" name="Google Shape;278;p43"/>
          <p:cNvSpPr txBox="1">
            <a:spLocks noGrp="1"/>
          </p:cNvSpPr>
          <p:nvPr>
            <p:ph type="body" idx="1"/>
          </p:nvPr>
        </p:nvSpPr>
        <p:spPr>
          <a:xfrm>
            <a:off x="251525" y="884525"/>
            <a:ext cx="8044800" cy="29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60070" lvl="0" indent="-514350" algn="just" rtl="0">
              <a:spcBef>
                <a:spcPts val="0"/>
              </a:spcBef>
              <a:spcAft>
                <a:spcPts val="0"/>
              </a:spcAft>
              <a:buSzPts val="2600"/>
              <a:buFont typeface="Georgia"/>
              <a:buAutoNum type="alphaUcPeriod"/>
            </a:pPr>
            <a:r>
              <a:rPr lang="es-CO" sz="2000"/>
              <a:t>El tiempo promedio del atleta 2 es mayor que el del atleta 1.</a:t>
            </a:r>
            <a:endParaRPr/>
          </a:p>
          <a:p>
            <a:pPr marL="560070" lvl="0" indent="-514350" algn="just" rtl="0">
              <a:spcBef>
                <a:spcPts val="700"/>
              </a:spcBef>
              <a:spcAft>
                <a:spcPts val="0"/>
              </a:spcAft>
              <a:buSzPts val="2600"/>
              <a:buFont typeface="Georgia"/>
              <a:buAutoNum type="alphaUcPeriod"/>
            </a:pPr>
            <a:r>
              <a:rPr lang="es-CO" sz="2000"/>
              <a:t>La dispersión en los tiempos del atleta 2 es mayor que la del atleta 1.</a:t>
            </a:r>
            <a:endParaRPr/>
          </a:p>
          <a:p>
            <a:pPr marL="560070" lvl="0" indent="-514350" algn="just" rtl="0">
              <a:spcBef>
                <a:spcPts val="700"/>
              </a:spcBef>
              <a:spcAft>
                <a:spcPts val="0"/>
              </a:spcAft>
              <a:buSzPts val="2600"/>
              <a:buFont typeface="Georgia"/>
              <a:buAutoNum type="alphaUcPeriod"/>
            </a:pPr>
            <a:r>
              <a:rPr lang="es-CO" sz="2000"/>
              <a:t>El atleta 2 es quien ha obtenido los mejores tiempos </a:t>
            </a:r>
            <a:endParaRPr/>
          </a:p>
          <a:p>
            <a:pPr marL="560070" lvl="0" indent="-514350" algn="just" rtl="0">
              <a:spcBef>
                <a:spcPts val="700"/>
              </a:spcBef>
              <a:spcAft>
                <a:spcPts val="0"/>
              </a:spcAft>
              <a:buSzPts val="2600"/>
              <a:buFont typeface="Georgia"/>
              <a:buAutoNum type="alphaUcPeriod"/>
            </a:pPr>
            <a:r>
              <a:rPr lang="es-CO" sz="2000"/>
              <a:t>El atleta 1 es más regular (constante) en sus tiempos</a:t>
            </a:r>
            <a:endParaRPr/>
          </a:p>
          <a:p>
            <a:pPr marL="560070" lvl="0" indent="-514350" algn="just" rtl="0">
              <a:spcBef>
                <a:spcPts val="700"/>
              </a:spcBef>
              <a:spcAft>
                <a:spcPts val="0"/>
              </a:spcAft>
              <a:buSzPts val="2600"/>
              <a:buFont typeface="Georgia"/>
              <a:buAutoNum type="alphaUcPeriod"/>
            </a:pPr>
            <a:r>
              <a:rPr lang="es-CO" sz="2000"/>
              <a:t>El atleta 1 ha superado en 6 ocasiones el mejor tiempo del atleta 2.</a:t>
            </a:r>
            <a:endParaRPr/>
          </a:p>
          <a:p>
            <a:pPr marL="560070" lvl="0" indent="-349249" algn="just" rtl="0">
              <a:spcBef>
                <a:spcPts val="700"/>
              </a:spcBef>
              <a:spcAft>
                <a:spcPts val="0"/>
              </a:spcAft>
              <a:buSzPts val="2600"/>
              <a:buFont typeface="Georgia"/>
              <a:buNone/>
            </a:pPr>
            <a:endParaRPr sz="2000"/>
          </a:p>
          <a:p>
            <a:pPr marL="560070" lvl="0" indent="-349249" algn="just" rtl="0">
              <a:spcBef>
                <a:spcPts val="700"/>
              </a:spcBef>
              <a:spcAft>
                <a:spcPts val="0"/>
              </a:spcAft>
              <a:buSzPts val="2600"/>
              <a:buFont typeface="Georgia"/>
              <a:buNone/>
            </a:pPr>
            <a:endParaRPr sz="2000"/>
          </a:p>
        </p:txBody>
      </p:sp>
      <p:sp>
        <p:nvSpPr>
          <p:cNvPr id="279" name="Google Shape;279;p43"/>
          <p:cNvSpPr/>
          <p:nvPr/>
        </p:nvSpPr>
        <p:spPr>
          <a:xfrm>
            <a:off x="4925878" y="154215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80" name="Google Shape;280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9275" y="4113631"/>
            <a:ext cx="5565938" cy="29375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00">
            <a:alpha val="12941"/>
          </a:srgbClr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4"/>
          <p:cNvSpPr txBox="1">
            <a:spLocks noGrp="1"/>
          </p:cNvSpPr>
          <p:nvPr>
            <p:ph type="title"/>
          </p:nvPr>
        </p:nvSpPr>
        <p:spPr>
          <a:xfrm>
            <a:off x="0" y="116620"/>
            <a:ext cx="8964600" cy="12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s-CO" sz="2400" b="0"/>
              <a:t>El histograma de siguiente diapositiva muestra el número de días de ausencia al trabajo durante un año de los empleados de una compañía.  La afirmación cierta es:</a:t>
            </a:r>
            <a:endParaRPr sz="2800"/>
          </a:p>
        </p:txBody>
      </p:sp>
      <p:sp>
        <p:nvSpPr>
          <p:cNvPr id="286" name="Google Shape;286;p44"/>
          <p:cNvSpPr txBox="1">
            <a:spLocks noGrp="1"/>
          </p:cNvSpPr>
          <p:nvPr>
            <p:ph type="body" idx="1"/>
          </p:nvPr>
        </p:nvSpPr>
        <p:spPr>
          <a:xfrm>
            <a:off x="69725" y="1669051"/>
            <a:ext cx="8044800" cy="45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60070" lvl="0" indent="-539750" algn="just" rtl="0">
              <a:spcBef>
                <a:spcPts val="0"/>
              </a:spcBef>
              <a:spcAft>
                <a:spcPts val="0"/>
              </a:spcAft>
              <a:buSzPts val="3000"/>
              <a:buFont typeface="Georgia"/>
              <a:buAutoNum type="alphaUcPeriod"/>
            </a:pPr>
            <a:r>
              <a:rPr lang="es-CO" sz="2400"/>
              <a:t>La moda es B</a:t>
            </a:r>
            <a:endParaRPr sz="1700"/>
          </a:p>
          <a:p>
            <a:pPr marL="560070" lvl="0" indent="-539750" algn="just" rtl="0">
              <a:spcBef>
                <a:spcPts val="700"/>
              </a:spcBef>
              <a:spcAft>
                <a:spcPts val="0"/>
              </a:spcAft>
              <a:buSzPts val="3000"/>
              <a:buFont typeface="Georgia"/>
              <a:buAutoNum type="alphaUcPeriod"/>
            </a:pPr>
            <a:r>
              <a:rPr lang="es-CO" sz="2400"/>
              <a:t>La mediana es C</a:t>
            </a:r>
            <a:endParaRPr sz="1700"/>
          </a:p>
          <a:p>
            <a:pPr marL="560070" lvl="0" indent="-539750" algn="just" rtl="0">
              <a:spcBef>
                <a:spcPts val="700"/>
              </a:spcBef>
              <a:spcAft>
                <a:spcPts val="0"/>
              </a:spcAft>
              <a:buSzPts val="3000"/>
              <a:buFont typeface="Georgia"/>
              <a:buAutoNum type="alphaUcPeriod"/>
            </a:pPr>
            <a:r>
              <a:rPr lang="es-CO" sz="2400"/>
              <a:t>El promedio es A</a:t>
            </a:r>
            <a:endParaRPr sz="1700"/>
          </a:p>
          <a:p>
            <a:pPr marL="560070" lvl="0" indent="-539750" algn="just" rtl="0">
              <a:spcBef>
                <a:spcPts val="700"/>
              </a:spcBef>
              <a:spcAft>
                <a:spcPts val="0"/>
              </a:spcAft>
              <a:buSzPts val="3000"/>
              <a:buFont typeface="Georgia"/>
              <a:buAutoNum type="alphaUcPeriod"/>
            </a:pPr>
            <a:r>
              <a:rPr lang="es-CO" sz="2400"/>
              <a:t>El rango es 28</a:t>
            </a:r>
            <a:endParaRPr sz="1700"/>
          </a:p>
          <a:p>
            <a:pPr marL="560070" lvl="0" indent="-539750" algn="just" rtl="0">
              <a:spcBef>
                <a:spcPts val="700"/>
              </a:spcBef>
              <a:spcAft>
                <a:spcPts val="0"/>
              </a:spcAft>
              <a:buSzPts val="3000"/>
              <a:buFont typeface="Georgia"/>
              <a:buAutoNum type="alphaUcPeriod"/>
            </a:pPr>
            <a:r>
              <a:rPr lang="es-CO" sz="2400"/>
              <a:t>El número de datos es 57</a:t>
            </a:r>
            <a:endParaRPr sz="1700"/>
          </a:p>
          <a:p>
            <a:pPr marL="560070" lvl="0" indent="-539750" algn="just" rtl="0">
              <a:spcBef>
                <a:spcPts val="700"/>
              </a:spcBef>
              <a:spcAft>
                <a:spcPts val="0"/>
              </a:spcAft>
              <a:buSzPts val="3000"/>
              <a:buFont typeface="Georgia"/>
              <a:buAutoNum type="alphaUcPeriod"/>
            </a:pPr>
            <a:r>
              <a:rPr lang="es-CO" sz="2400"/>
              <a:t>La distribución de los días de ausencia al trabajo es sesgada a la izquierda</a:t>
            </a:r>
            <a:endParaRPr sz="1700"/>
          </a:p>
          <a:p>
            <a:pPr marL="560070" lvl="0" indent="-349249" algn="just" rtl="0">
              <a:spcBef>
                <a:spcPts val="700"/>
              </a:spcBef>
              <a:spcAft>
                <a:spcPts val="0"/>
              </a:spcAft>
              <a:buSzPts val="2600"/>
              <a:buFont typeface="Georgia"/>
              <a:buNone/>
            </a:pPr>
            <a:endParaRPr sz="2400"/>
          </a:p>
          <a:p>
            <a:pPr marL="560070" lvl="0" indent="-349249" algn="just" rtl="0">
              <a:spcBef>
                <a:spcPts val="700"/>
              </a:spcBef>
              <a:spcAft>
                <a:spcPts val="0"/>
              </a:spcAft>
              <a:buSzPts val="2600"/>
              <a:buFont typeface="Georgia"/>
              <a:buNone/>
            </a:pPr>
            <a:endParaRPr sz="2400"/>
          </a:p>
        </p:txBody>
      </p:sp>
      <p:sp>
        <p:nvSpPr>
          <p:cNvPr id="287" name="Google Shape;287;p44"/>
          <p:cNvSpPr/>
          <p:nvPr/>
        </p:nvSpPr>
        <p:spPr>
          <a:xfrm>
            <a:off x="4925878" y="154215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00">
            <a:alpha val="12940"/>
          </a:srgbClr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5"/>
          <p:cNvSpPr/>
          <p:nvPr/>
        </p:nvSpPr>
        <p:spPr>
          <a:xfrm>
            <a:off x="4925878" y="154215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93" name="Google Shape;29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1375" y="86300"/>
            <a:ext cx="6722125" cy="654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ota">
  <a:themeElements>
    <a:clrScheme name="Gota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Gota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ota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TM04033925[[fn=Gota]]</Template>
  <TotalTime>0</TotalTime>
  <Words>573</Words>
  <Application>Microsoft Office PowerPoint</Application>
  <PresentationFormat>Presentación en pantalla (4:3)</PresentationFormat>
  <Paragraphs>56</Paragraphs>
  <Slides>33</Slides>
  <Notes>33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39" baseType="lpstr">
      <vt:lpstr>Tahoma</vt:lpstr>
      <vt:lpstr>Arial</vt:lpstr>
      <vt:lpstr>Tw Cen MT</vt:lpstr>
      <vt:lpstr>Calibri</vt:lpstr>
      <vt:lpstr>Georgia</vt:lpstr>
      <vt:lpstr>Gota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El diagrama de tallo y hojas de abajo, corresponde a las edades de un grupo de personas. La afirmación correcta es:</vt:lpstr>
      <vt:lpstr> Un grupo de estudiantes realizó una prueba física y al finalizar se les asignó un puntaje entre 00 y 100. El puntaje de aprobación es 60. Los resultados se muestran en el histograma. La afirmación que NO es cierta es:</vt:lpstr>
      <vt:lpstr>En la gráfica de la siguiente diapositiva se muestra el costo mensual de varios gimnasios en diferentes localidades. La afirmación que NO es cierta es:</vt:lpstr>
      <vt:lpstr>Presentación de PowerPoint</vt:lpstr>
      <vt:lpstr>En las últimas 15 carreras dos atletas han ha obtenido tiempos (en segundos) según muestra la gráfica de abajo. La afirmación cierta es:</vt:lpstr>
      <vt:lpstr>El histograma de siguiente diapositiva muestra el número de días de ausencia al trabajo durante un año de los empleados de una compañía.  La afirmación cierta es: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user</dc:creator>
  <cp:lastModifiedBy>user</cp:lastModifiedBy>
  <cp:revision>1</cp:revision>
  <dcterms:modified xsi:type="dcterms:W3CDTF">2026-08-01T01:05:05Z</dcterms:modified>
</cp:coreProperties>
</file>