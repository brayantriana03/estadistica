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7315200" cy="96012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Georgia" panose="02040502050405020303" pitchFamily="18" charset="0"/>
      <p:regular r:id="rId23"/>
      <p:bold r:id="rId24"/>
      <p:italic r:id="rId25"/>
      <p:boldItalic r:id="rId26"/>
    </p:embeddedFont>
    <p:embeddedFont>
      <p:font typeface="Lato" panose="020F0502020204030203" pitchFamily="34" charset="0"/>
      <p:regular r:id="rId27"/>
      <p:bold r:id="rId28"/>
      <p:italic r:id="rId29"/>
      <p:boldItalic r:id="rId30"/>
    </p:embeddedFont>
    <p:embeddedFont>
      <p:font typeface="Raleway" pitchFamily="2" charset="0"/>
      <p:regular r:id="rId31"/>
      <p:bold r:id="rId32"/>
      <p:italic r:id="rId33"/>
      <p:boldItalic r:id="rId34"/>
    </p:embeddedFont>
    <p:embeddedFont>
      <p:font typeface="Tahoma" panose="020B0604030504040204" pitchFamily="34" charset="0"/>
      <p:regular r:id="rId35"/>
      <p:bold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1440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theme" Target="theme/theme1.xml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587" y="0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 sz="13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‹Nº›</a:t>
            </a:fld>
            <a:endParaRPr sz="13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9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11b8cfa0af_0_39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g111b8cfa0af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11b8cfa0a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11b8cfa0af_0_0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111b8cfa0af_0_0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800" cy="480000"/>
          </a:xfrm>
          <a:prstGeom prst="rect">
            <a:avLst/>
          </a:prstGeom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CO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11b8cfa0a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11b8cfa0af_0_5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111b8cfa0af_0_5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800" cy="480000"/>
          </a:xfrm>
          <a:prstGeom prst="rect">
            <a:avLst/>
          </a:prstGeom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CO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11b8cfa0a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11b8cfa0af_0_10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g111b8cfa0af_0_10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800" cy="480000"/>
          </a:xfrm>
          <a:prstGeom prst="rect">
            <a:avLst/>
          </a:prstGeom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CO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3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3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4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5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6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7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8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1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16" name="Google Shape;16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729450" y="1763267"/>
            <a:ext cx="7688100" cy="22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729627" y="4230533"/>
            <a:ext cx="7688100" cy="7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p3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23" name="Google Shape;23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729450" y="1763267"/>
            <a:ext cx="7688400" cy="202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" name="Google Shape;29;p4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30" name="Google Shape;30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729450" y="1758200"/>
            <a:ext cx="7688700" cy="7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729450" y="2771833"/>
            <a:ext cx="7688700" cy="30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" name="Google Shape;37;p5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38" name="Google Shape;38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" name="Google Shape;40;p5"/>
          <p:cNvSpPr txBox="1">
            <a:spLocks noGrp="1"/>
          </p:cNvSpPr>
          <p:nvPr>
            <p:ph type="title"/>
          </p:nvPr>
        </p:nvSpPr>
        <p:spPr>
          <a:xfrm>
            <a:off x="729450" y="1758200"/>
            <a:ext cx="7688400" cy="7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1"/>
          </p:nvPr>
        </p:nvSpPr>
        <p:spPr>
          <a:xfrm>
            <a:off x="729325" y="2771833"/>
            <a:ext cx="3774300" cy="30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body" idx="2"/>
          </p:nvPr>
        </p:nvSpPr>
        <p:spPr>
          <a:xfrm>
            <a:off x="4643604" y="2771833"/>
            <a:ext cx="3774300" cy="30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ldNum" idx="12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" name="Google Shape;46;p6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47" name="Google Shape;47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" name="Google Shape;49;p6"/>
          <p:cNvSpPr txBox="1">
            <a:spLocks noGrp="1"/>
          </p:cNvSpPr>
          <p:nvPr>
            <p:ph type="title"/>
          </p:nvPr>
        </p:nvSpPr>
        <p:spPr>
          <a:xfrm>
            <a:off x="729450" y="1758200"/>
            <a:ext cx="7688400" cy="7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sldNum" idx="12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" name="Google Shape;53;p7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54" name="Google Shape;54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" name="Google Shape;56;p7"/>
          <p:cNvSpPr txBox="1">
            <a:spLocks noGrp="1"/>
          </p:cNvSpPr>
          <p:nvPr>
            <p:ph type="title"/>
          </p:nvPr>
        </p:nvSpPr>
        <p:spPr>
          <a:xfrm>
            <a:off x="730000" y="1758200"/>
            <a:ext cx="3300900" cy="18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body" idx="1"/>
          </p:nvPr>
        </p:nvSpPr>
        <p:spPr>
          <a:xfrm>
            <a:off x="721225" y="3708967"/>
            <a:ext cx="3300900" cy="21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8"/>
          <p:cNvGrpSpPr/>
          <p:nvPr/>
        </p:nvGrpSpPr>
        <p:grpSpPr>
          <a:xfrm>
            <a:off x="830392" y="5558926"/>
            <a:ext cx="745763" cy="61102"/>
            <a:chOff x="4580561" y="2589004"/>
            <a:chExt cx="1064464" cy="25200"/>
          </a:xfrm>
        </p:grpSpPr>
        <p:sp>
          <p:nvSpPr>
            <p:cNvPr id="61" name="Google Shape;61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" name="Google Shape;63;p8"/>
          <p:cNvSpPr txBox="1">
            <a:spLocks noGrp="1"/>
          </p:cNvSpPr>
          <p:nvPr>
            <p:ph type="title"/>
          </p:nvPr>
        </p:nvSpPr>
        <p:spPr>
          <a:xfrm>
            <a:off x="729450" y="1152400"/>
            <a:ext cx="7021200" cy="398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sldNum" idx="12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" name="Google Shape;67;p9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68" name="Google Shape;68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" name="Google Shape;70;p9"/>
          <p:cNvSpPr txBox="1">
            <a:spLocks noGrp="1"/>
          </p:cNvSpPr>
          <p:nvPr>
            <p:ph type="title"/>
          </p:nvPr>
        </p:nvSpPr>
        <p:spPr>
          <a:xfrm>
            <a:off x="730000" y="1758200"/>
            <a:ext cx="3300900" cy="224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subTitle" idx="1"/>
          </p:nvPr>
        </p:nvSpPr>
        <p:spPr>
          <a:xfrm>
            <a:off x="724950" y="4215367"/>
            <a:ext cx="3300900" cy="10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2"/>
          </p:nvPr>
        </p:nvSpPr>
        <p:spPr>
          <a:xfrm>
            <a:off x="5174225" y="1803500"/>
            <a:ext cx="3374400" cy="403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sldNum" idx="12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 txBox="1">
            <a:spLocks noGrp="1"/>
          </p:cNvSpPr>
          <p:nvPr>
            <p:ph type="body" idx="1"/>
          </p:nvPr>
        </p:nvSpPr>
        <p:spPr>
          <a:xfrm>
            <a:off x="724950" y="5830068"/>
            <a:ext cx="7697400" cy="61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sldNum" idx="12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11"/>
          <p:cNvGrpSpPr/>
          <p:nvPr/>
        </p:nvGrpSpPr>
        <p:grpSpPr>
          <a:xfrm>
            <a:off x="830392" y="5558926"/>
            <a:ext cx="745763" cy="61102"/>
            <a:chOff x="4580561" y="2589004"/>
            <a:chExt cx="1064464" cy="25200"/>
          </a:xfrm>
        </p:grpSpPr>
        <p:sp>
          <p:nvSpPr>
            <p:cNvPr id="79" name="Google Shape;79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" name="Google Shape;81;p11"/>
          <p:cNvSpPr txBox="1">
            <a:spLocks noGrp="1"/>
          </p:cNvSpPr>
          <p:nvPr>
            <p:ph type="title" hasCustomPrompt="1"/>
          </p:nvPr>
        </p:nvSpPr>
        <p:spPr>
          <a:xfrm>
            <a:off x="729450" y="978600"/>
            <a:ext cx="7688400" cy="16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2" name="Google Shape;82;p11"/>
          <p:cNvSpPr txBox="1">
            <a:spLocks noGrp="1"/>
          </p:cNvSpPr>
          <p:nvPr>
            <p:ph type="body" idx="1"/>
          </p:nvPr>
        </p:nvSpPr>
        <p:spPr>
          <a:xfrm>
            <a:off x="729450" y="3030517"/>
            <a:ext cx="7688400" cy="21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>
            <a:spLocks noGrp="1"/>
          </p:cNvSpPr>
          <p:nvPr>
            <p:ph type="sldNum" idx="12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www.dinero.com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www.census.gov/data-tools/demo/idb/#/country?YR_ANIM=2021&amp;COUNTRY_YR_ANIM=2021&amp;COUNTRY_YEAR=2022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395536" y="2204864"/>
            <a:ext cx="8424936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Estadística Descriptiva y Probabilidad</a:t>
            </a:r>
            <a:endParaRPr sz="36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Diapositivas 2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/>
        </p:nvSpPr>
        <p:spPr>
          <a:xfrm>
            <a:off x="539552" y="260648"/>
            <a:ext cx="7992888" cy="55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Contenido de la clase </a:t>
            </a:r>
            <a:endParaRPr/>
          </a:p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CO" sz="3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Autoevaluación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Construcción e interpretación de gráficas (continuación):</a:t>
            </a:r>
            <a:endParaRPr/>
          </a:p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"/>
              <a:buChar char="•"/>
            </a:pPr>
            <a:r>
              <a:rPr lang="es-CO" sz="3200">
                <a:solidFill>
                  <a:schemeClr val="accent6"/>
                </a:solidFill>
                <a:latin typeface="Tahoma"/>
                <a:ea typeface="Tahoma"/>
                <a:cs typeface="Tahoma"/>
                <a:sym typeface="Tahoma"/>
              </a:rPr>
              <a:t>De datos cualitativos: </a:t>
            </a:r>
            <a:r>
              <a:rPr lang="es-CO"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Barras, barras bivariadas y paretos.</a:t>
            </a: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"/>
              <a:buChar char="•"/>
            </a:pPr>
            <a:r>
              <a:rPr lang="es-CO" sz="3200">
                <a:solidFill>
                  <a:schemeClr val="accent6"/>
                </a:solidFill>
                <a:latin typeface="Tahoma"/>
                <a:ea typeface="Tahoma"/>
                <a:cs typeface="Tahoma"/>
                <a:sym typeface="Tahoma"/>
              </a:rPr>
              <a:t>De datos cuantitativos: </a:t>
            </a:r>
            <a:r>
              <a:rPr lang="es-CO"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Gráficos de dispersión, puntos, de tallo y hojas e histogramas.</a:t>
            </a: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"/>
              <a:buChar char="•"/>
            </a:pPr>
            <a:r>
              <a:rPr lang="es-CO" sz="3200">
                <a:solidFill>
                  <a:schemeClr val="accent6"/>
                </a:solidFill>
                <a:latin typeface="Tahoma"/>
                <a:ea typeface="Tahoma"/>
                <a:cs typeface="Tahoma"/>
                <a:sym typeface="Tahoma"/>
              </a:rPr>
              <a:t>Otro tipo de gráficos: </a:t>
            </a:r>
            <a:r>
              <a:rPr lang="es-CO"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 líneas, rascacielos y pirámides de población.</a:t>
            </a: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3568" y="116632"/>
            <a:ext cx="7125097" cy="6223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1520" y="836712"/>
            <a:ext cx="8714755" cy="5417713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6"/>
          <p:cNvSpPr txBox="1"/>
          <p:nvPr/>
        </p:nvSpPr>
        <p:spPr>
          <a:xfrm>
            <a:off x="611560" y="6525344"/>
            <a:ext cx="2880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Revista dinero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28750"/>
            <a:ext cx="9144000" cy="520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04575"/>
            <a:ext cx="9144000" cy="48280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40725"/>
            <a:ext cx="8839200" cy="404835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9">
            <a:hlinkClick r:id="rId4"/>
          </p:cNvPr>
          <p:cNvSpPr txBox="1"/>
          <p:nvPr/>
        </p:nvSpPr>
        <p:spPr>
          <a:xfrm>
            <a:off x="3133700" y="57371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O" sz="1000" b="1" u="sng">
                <a:solidFill>
                  <a:schemeClr val="hlink"/>
                </a:solidFill>
                <a:hlinkClick r:id="rId4"/>
              </a:rPr>
              <a:t>U.S. Census Bureau</a:t>
            </a:r>
            <a:endParaRPr sz="1000" b="1" u="sng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>
            <a:alpha val="5882"/>
          </a:srgbClr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>
            <a:spLocks noGrp="1"/>
          </p:cNvSpPr>
          <p:nvPr>
            <p:ph type="title"/>
          </p:nvPr>
        </p:nvSpPr>
        <p:spPr>
          <a:xfrm>
            <a:off x="467544" y="476672"/>
            <a:ext cx="6512511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CO" sz="2400"/>
              <a:t>De las siguientes, la afirmación FALSA es:</a:t>
            </a:r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body" idx="1"/>
          </p:nvPr>
        </p:nvSpPr>
        <p:spPr>
          <a:xfrm>
            <a:off x="1619672" y="1988840"/>
            <a:ext cx="4663737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6007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AutoNum type="alphaUcPeriod"/>
            </a:pPr>
            <a:r>
              <a:rPr lang="es-CO" sz="2000"/>
              <a:t>Una muestra es un subconjunto de elementos de la población.</a:t>
            </a:r>
            <a:endParaRPr/>
          </a:p>
          <a:p>
            <a:pPr marL="560070" lvl="0" indent="-51435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AutoNum type="alphaUcPeriod"/>
            </a:pPr>
            <a:r>
              <a:rPr lang="es-CO" sz="2000"/>
              <a:t>Un estadístico es cualquier medida calculada sobre la muestra.</a:t>
            </a:r>
            <a:endParaRPr/>
          </a:p>
          <a:p>
            <a:pPr marL="560070" lvl="0" indent="-51435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AutoNum type="alphaUcPeriod"/>
            </a:pPr>
            <a:r>
              <a:rPr lang="es-CO" sz="2000"/>
              <a:t>Las medidas que se calculan sobre la muestra se denominan parámetros poblacionales.</a:t>
            </a:r>
            <a:endParaRPr/>
          </a:p>
          <a:p>
            <a:pPr marL="560070" lvl="0" indent="-51435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AutoNum type="alphaUcPeriod"/>
            </a:pPr>
            <a:r>
              <a:rPr lang="es-CO" sz="2000"/>
              <a:t>El número de cuentas corrientes con saldo en rojo en un banco, es una variable discreta.</a:t>
            </a:r>
            <a:endParaRPr/>
          </a:p>
          <a:p>
            <a:pPr marL="560070" lvl="0" indent="-514350" algn="just" rtl="0">
              <a:lnSpc>
                <a:spcPct val="90000"/>
              </a:lnSpc>
              <a:spcBef>
                <a:spcPts val="750"/>
              </a:spcBef>
              <a:spcAft>
                <a:spcPts val="1600"/>
              </a:spcAft>
              <a:buClr>
                <a:schemeClr val="dk1"/>
              </a:buClr>
              <a:buSzPts val="2000"/>
              <a:buFont typeface="Georgia"/>
              <a:buAutoNum type="alphaUcPeriod"/>
            </a:pPr>
            <a:r>
              <a:rPr lang="es-CO" sz="2000"/>
              <a:t>Si una variable es discreta es porque es cuantitativa.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>
            <a:alpha val="11764"/>
          </a:srgbClr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>
            <a:spLocks noGrp="1"/>
          </p:cNvSpPr>
          <p:nvPr>
            <p:ph type="title"/>
          </p:nvPr>
        </p:nvSpPr>
        <p:spPr>
          <a:xfrm>
            <a:off x="183404" y="188640"/>
            <a:ext cx="871296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CO" sz="2400"/>
              <a:t>En una encuesta se preguntó sobre la nacionalidad de los entrevistados. A continuación se muestra una tabla de frecuencias. La afirmación verdadera es:</a:t>
            </a:r>
            <a:endParaRPr/>
          </a:p>
        </p:txBody>
      </p:sp>
      <p:sp>
        <p:nvSpPr>
          <p:cNvPr id="137" name="Google Shape;137;p21"/>
          <p:cNvSpPr txBox="1">
            <a:spLocks noGrp="1"/>
          </p:cNvSpPr>
          <p:nvPr>
            <p:ph type="body" idx="1"/>
          </p:nvPr>
        </p:nvSpPr>
        <p:spPr>
          <a:xfrm>
            <a:off x="698303" y="3645024"/>
            <a:ext cx="8164744" cy="396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6007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AutoNum type="alphaUcPeriod"/>
            </a:pPr>
            <a:r>
              <a:rPr lang="es-CO" sz="2000"/>
              <a:t>En la encuesta, el elemento sobre el que se mide la variable nacionalidad es el país de origen.</a:t>
            </a:r>
            <a:endParaRPr/>
          </a:p>
          <a:p>
            <a:pPr marL="560070" lvl="0" indent="-51435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AutoNum type="alphaUcPeriod"/>
            </a:pPr>
            <a:r>
              <a:rPr lang="es-CO" sz="2000"/>
              <a:t>La variable nacionalidad es cuantitativa.</a:t>
            </a:r>
            <a:endParaRPr/>
          </a:p>
          <a:p>
            <a:pPr marL="560070" lvl="0" indent="-51435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AutoNum type="alphaUcPeriod"/>
            </a:pPr>
            <a:r>
              <a:rPr lang="es-CO" sz="2000"/>
              <a:t>La representación gráfica para esta tabla se llama histograma.</a:t>
            </a:r>
            <a:endParaRPr/>
          </a:p>
          <a:p>
            <a:pPr marL="560070" lvl="0" indent="-51435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AutoNum type="alphaUcPeriod"/>
            </a:pPr>
            <a:r>
              <a:rPr lang="es-CO" sz="2000"/>
              <a:t>El porcentaje de personas que no son de Chile es 82.5%.</a:t>
            </a:r>
            <a:endParaRPr/>
          </a:p>
          <a:p>
            <a:pPr marL="560070" lvl="0" indent="-514350" algn="just" rtl="0">
              <a:lnSpc>
                <a:spcPct val="90000"/>
              </a:lnSpc>
              <a:spcBef>
                <a:spcPts val="750"/>
              </a:spcBef>
              <a:spcAft>
                <a:spcPts val="1600"/>
              </a:spcAft>
              <a:buClr>
                <a:schemeClr val="dk1"/>
              </a:buClr>
              <a:buSzPts val="2000"/>
              <a:buFont typeface="Georgia"/>
              <a:buAutoNum type="alphaUcPeriod"/>
            </a:pPr>
            <a:r>
              <a:rPr lang="es-CO" sz="2000"/>
              <a:t>La proporción de chilenos y bolivianos es 10%.</a:t>
            </a:r>
            <a:endParaRPr/>
          </a:p>
        </p:txBody>
      </p:sp>
      <p:pic>
        <p:nvPicPr>
          <p:cNvPr id="138" name="Google Shape;138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91680" y="1556792"/>
            <a:ext cx="5199137" cy="1587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/>
        </p:nvSpPr>
        <p:spPr>
          <a:xfrm>
            <a:off x="611560" y="365755"/>
            <a:ext cx="76329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Histograma de frecuencias de la fertilidad en el mundo 2018</a:t>
            </a:r>
            <a:endParaRPr/>
          </a:p>
        </p:txBody>
      </p:sp>
      <p:pic>
        <p:nvPicPr>
          <p:cNvPr id="144" name="Google Shape;144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5037" y="1184672"/>
            <a:ext cx="9045853" cy="4608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/>
        </p:nvSpPr>
        <p:spPr>
          <a:xfrm>
            <a:off x="611560" y="188640"/>
            <a:ext cx="76329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Pasos para construir el histograma de frecuencias de la fertilidad en el mundo 2010</a:t>
            </a:r>
            <a:endParaRPr/>
          </a:p>
        </p:txBody>
      </p:sp>
      <p:pic>
        <p:nvPicPr>
          <p:cNvPr id="150" name="Google Shape;150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17" y="1196751"/>
            <a:ext cx="9140485" cy="5414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3528" y="1340768"/>
            <a:ext cx="8537971" cy="3720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1520" y="2276872"/>
            <a:ext cx="8633990" cy="2670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>
            <a:alpha val="13725"/>
          </a:srgbClr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571184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CO" sz="2400"/>
              <a:t>De las siguientes, la variable que NO es cualitativa es:</a:t>
            </a:r>
            <a:endParaRPr/>
          </a:p>
        </p:txBody>
      </p:sp>
      <p:sp>
        <p:nvSpPr>
          <p:cNvPr id="166" name="Google Shape;166;p26"/>
          <p:cNvSpPr txBox="1">
            <a:spLocks noGrp="1"/>
          </p:cNvSpPr>
          <p:nvPr>
            <p:ph type="body" idx="1"/>
          </p:nvPr>
        </p:nvSpPr>
        <p:spPr>
          <a:xfrm>
            <a:off x="827584" y="1844824"/>
            <a:ext cx="7776864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6007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AutoNum type="alphaUcPeriod"/>
            </a:pPr>
            <a:r>
              <a:rPr lang="es-CO" sz="2000"/>
              <a:t>Estado de una persona en Facebook.</a:t>
            </a:r>
            <a:endParaRPr/>
          </a:p>
          <a:p>
            <a:pPr marL="560070" lvl="0" indent="-51435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AutoNum type="alphaUcPeriod"/>
            </a:pPr>
            <a:r>
              <a:rPr lang="es-CO" sz="2000"/>
              <a:t>Operador de telefonía celular de un estudiante.</a:t>
            </a:r>
            <a:endParaRPr/>
          </a:p>
          <a:p>
            <a:pPr marL="560070" lvl="0" indent="-51435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AutoNum type="alphaUcPeriod"/>
            </a:pPr>
            <a:r>
              <a:rPr lang="es-CO" sz="2000"/>
              <a:t>Porcentaje  de estudiantes fumadores en una universidad.</a:t>
            </a:r>
            <a:endParaRPr/>
          </a:p>
          <a:p>
            <a:pPr marL="560070" lvl="0" indent="-51435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AutoNum type="alphaUcPeriod"/>
            </a:pPr>
            <a:r>
              <a:rPr lang="es-CO" sz="2000"/>
              <a:t>Marca del teléfono celular de un empleado en una fábrica.</a:t>
            </a:r>
            <a:endParaRPr/>
          </a:p>
          <a:p>
            <a:pPr marL="560070" lvl="0" indent="-514350" algn="just" rtl="0">
              <a:lnSpc>
                <a:spcPct val="90000"/>
              </a:lnSpc>
              <a:spcBef>
                <a:spcPts val="750"/>
              </a:spcBef>
              <a:spcAft>
                <a:spcPts val="1600"/>
              </a:spcAft>
              <a:buClr>
                <a:schemeClr val="dk1"/>
              </a:buClr>
              <a:buSzPts val="2000"/>
              <a:buFont typeface="Georgia"/>
              <a:buAutoNum type="alphaUcPeriod"/>
            </a:pPr>
            <a:r>
              <a:rPr lang="es-CO" sz="2000"/>
              <a:t>Preferencia de presentación de una bebida gaseosa.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1518" y="76044"/>
            <a:ext cx="8543925" cy="2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51732" y="2780581"/>
            <a:ext cx="4743711" cy="4077419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7"/>
          <p:cNvSpPr txBox="1"/>
          <p:nvPr/>
        </p:nvSpPr>
        <p:spPr>
          <a:xfrm>
            <a:off x="683568" y="4357625"/>
            <a:ext cx="288032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Rascacielos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>
            <a:alpha val="12941"/>
          </a:srgbClr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 txBox="1">
            <a:spLocks noGrp="1"/>
          </p:cNvSpPr>
          <p:nvPr>
            <p:ph type="title"/>
          </p:nvPr>
        </p:nvSpPr>
        <p:spPr>
          <a:xfrm>
            <a:off x="659326" y="571845"/>
            <a:ext cx="757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CO" sz="2400"/>
              <a:t>De las siguientes, la variable que NO es cuantitativa</a:t>
            </a:r>
            <a:endParaRPr/>
          </a:p>
        </p:txBody>
      </p:sp>
      <p:sp>
        <p:nvSpPr>
          <p:cNvPr id="179" name="Google Shape;179;p28"/>
          <p:cNvSpPr txBox="1">
            <a:spLocks noGrp="1"/>
          </p:cNvSpPr>
          <p:nvPr>
            <p:ph type="body" idx="1"/>
          </p:nvPr>
        </p:nvSpPr>
        <p:spPr>
          <a:xfrm>
            <a:off x="251520" y="2276872"/>
            <a:ext cx="8075239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6007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AutoNum type="alphaUcPeriod"/>
            </a:pPr>
            <a:r>
              <a:rPr lang="es-CO" sz="2000"/>
              <a:t>El estrato socioeconómico.</a:t>
            </a:r>
            <a:endParaRPr/>
          </a:p>
          <a:p>
            <a:pPr marL="560070" lvl="0" indent="-51435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AutoNum type="alphaUcPeriod"/>
            </a:pPr>
            <a:r>
              <a:rPr lang="es-CO" sz="2000"/>
              <a:t>La fertilidad en Chocó en 2014.</a:t>
            </a:r>
            <a:endParaRPr/>
          </a:p>
          <a:p>
            <a:pPr marL="560070" lvl="0" indent="-51435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AutoNum type="alphaUcPeriod"/>
            </a:pPr>
            <a:r>
              <a:rPr lang="es-CO" sz="2000"/>
              <a:t>Saldo de una cuenta de ahorros.</a:t>
            </a:r>
            <a:endParaRPr/>
          </a:p>
          <a:p>
            <a:pPr marL="560070" lvl="0" indent="-51435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AutoNum type="alphaUcPeriod"/>
            </a:pPr>
            <a:r>
              <a:rPr lang="es-CO" sz="2000"/>
              <a:t>El IPC (índice de precios al consumidor) en Medellín en Junio.</a:t>
            </a:r>
            <a:endParaRPr/>
          </a:p>
          <a:p>
            <a:pPr marL="560070" lvl="0" indent="-514350" algn="just" rtl="0">
              <a:lnSpc>
                <a:spcPct val="90000"/>
              </a:lnSpc>
              <a:spcBef>
                <a:spcPts val="750"/>
              </a:spcBef>
              <a:spcAft>
                <a:spcPts val="1600"/>
              </a:spcAft>
              <a:buClr>
                <a:schemeClr val="dk1"/>
              </a:buClr>
              <a:buSzPts val="2000"/>
              <a:buFont typeface="Georgia"/>
              <a:buAutoNum type="alphaUcPeriod"/>
            </a:pPr>
            <a:r>
              <a:rPr lang="es-CO" sz="2000"/>
              <a:t>La precipitación diaria en Bogotá.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353</Words>
  <Application>Microsoft Office PowerPoint</Application>
  <PresentationFormat>Presentación en pantalla (4:3)</PresentationFormat>
  <Paragraphs>40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3" baseType="lpstr">
      <vt:lpstr>Tahoma</vt:lpstr>
      <vt:lpstr>Arial</vt:lpstr>
      <vt:lpstr>Lato</vt:lpstr>
      <vt:lpstr>Calibri</vt:lpstr>
      <vt:lpstr>Raleway</vt:lpstr>
      <vt:lpstr>Georgia</vt:lpstr>
      <vt:lpstr>Streamline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De las siguientes, la afirmación FALSA es:</vt:lpstr>
      <vt:lpstr>En una encuesta se preguntó sobre la nacionalidad de los entrevistados. A continuación se muestra una tabla de frecuencias. La afirmación verdadera es:</vt:lpstr>
      <vt:lpstr>Presentación de PowerPoint</vt:lpstr>
      <vt:lpstr>Presentación de PowerPoint</vt:lpstr>
      <vt:lpstr>Presentación de PowerPoint</vt:lpstr>
      <vt:lpstr>Presentación de PowerPoint</vt:lpstr>
      <vt:lpstr>De las siguientes, la variable que NO es cualitativa es:</vt:lpstr>
      <vt:lpstr>Presentación de PowerPoint</vt:lpstr>
      <vt:lpstr>De las siguientes, la variable que NO es cuantitativa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user</dc:creator>
  <cp:lastModifiedBy>user</cp:lastModifiedBy>
  <cp:revision>1</cp:revision>
  <dcterms:modified xsi:type="dcterms:W3CDTF">2026-08-01T02:20:52Z</dcterms:modified>
</cp:coreProperties>
</file>